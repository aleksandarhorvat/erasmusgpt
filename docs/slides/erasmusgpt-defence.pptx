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P@1</c:v>
                </c:pt>
              </c:strCache>
            </c:strRef>
          </c:tx>
          <c:spPr>
            <a:solidFill>
              <a:srgbClr val="14234B"/>
            </a:solidFill>
          </c:spPr>
          <c:cat>
            <c:strRef>
              <c:f>Sheet1!$A$2:$A$6</c:f>
              <c:strCache>
                <c:ptCount val="5"/>
                <c:pt idx="0">
                  <c:v>bm25</c:v>
                </c:pt>
                <c:pt idx="1">
                  <c:v>dense-minilm</c:v>
                </c:pt>
                <c:pt idx="2">
                  <c:v>dense-bge</c:v>
                </c:pt>
                <c:pt idx="3">
                  <c:v>hybrid</c:v>
                </c:pt>
                <c:pt idx="4">
                  <c:v>hybrid+ce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</c:v>
                </c:pt>
                <c:pt idx="1">
                  <c:v>0.78</c:v>
                </c:pt>
                <c:pt idx="2">
                  <c:v>0.7</c:v>
                </c:pt>
                <c:pt idx="3">
                  <c:v>0.78</c:v>
                </c:pt>
                <c:pt idx="4">
                  <c:v>0.78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Recall@5</c:v>
                </c:pt>
              </c:strCache>
            </c:strRef>
          </c:tx>
          <c:spPr>
            <a:solidFill>
              <a:srgbClr val="2A4D9B"/>
            </a:solidFill>
          </c:spPr>
          <c:cat>
            <c:strRef>
              <c:f>Sheet1!$A$2:$A$6</c:f>
              <c:strCache>
                <c:ptCount val="5"/>
                <c:pt idx="0">
                  <c:v>bm25</c:v>
                </c:pt>
                <c:pt idx="1">
                  <c:v>dense-minilm</c:v>
                </c:pt>
                <c:pt idx="2">
                  <c:v>dense-bge</c:v>
                </c:pt>
                <c:pt idx="3">
                  <c:v>hybrid</c:v>
                </c:pt>
                <c:pt idx="4">
                  <c:v>hybrid+ce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0.74</c:v>
                </c:pt>
                <c:pt idx="1">
                  <c:v>0.83</c:v>
                </c:pt>
                <c:pt idx="2">
                  <c:v>0.78</c:v>
                </c:pt>
                <c:pt idx="3">
                  <c:v>0.83</c:v>
                </c:pt>
                <c:pt idx="4">
                  <c:v>0.82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MRR@10</c:v>
                </c:pt>
              </c:strCache>
            </c:strRef>
          </c:tx>
          <c:spPr>
            <a:solidFill>
              <a:srgbClr val="F2B705"/>
            </a:solidFill>
          </c:spPr>
          <c:cat>
            <c:strRef>
              <c:f>Sheet1!$A$2:$A$6</c:f>
              <c:strCache>
                <c:ptCount val="5"/>
                <c:pt idx="0">
                  <c:v>bm25</c:v>
                </c:pt>
                <c:pt idx="1">
                  <c:v>dense-minilm</c:v>
                </c:pt>
                <c:pt idx="2">
                  <c:v>dense-bge</c:v>
                </c:pt>
                <c:pt idx="3">
                  <c:v>hybrid</c:v>
                </c:pt>
                <c:pt idx="4">
                  <c:v>hybrid+ce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0.89</c:v>
                </c:pt>
                <c:pt idx="1">
                  <c:v>0.85</c:v>
                </c:pt>
                <c:pt idx="2">
                  <c:v>0.78</c:v>
                </c:pt>
                <c:pt idx="3">
                  <c:v>0.85</c:v>
                </c:pt>
                <c:pt idx="4">
                  <c:v>0.85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6C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DE1EA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F24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hybrid, no reranker</c:v>
                </c:pt>
              </c:strCache>
            </c:strRef>
          </c:tx>
          <c:spPr>
            <a:solidFill>
              <a:srgbClr val="14234B"/>
            </a:solidFill>
          </c:spPr>
          <c:cat>
            <c:strRef>
              <c:f>Sheet1!$A$2:$A$4</c:f>
              <c:strCache>
                <c:ptCount val="3"/>
                <c:pt idx="0">
                  <c:v>P@1</c:v>
                </c:pt>
                <c:pt idx="1">
                  <c:v>Recall@5</c:v>
                </c:pt>
                <c:pt idx="2">
                  <c:v>MRR@10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0.86</c:v>
                </c:pt>
                <c:pt idx="1">
                  <c:v>0.8</c:v>
                </c:pt>
                <c:pt idx="2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reranker replaces the order</c:v>
                </c:pt>
              </c:strCache>
            </c:strRef>
          </c:tx>
          <c:spPr>
            <a:solidFill>
              <a:srgbClr val="B53A2E"/>
            </a:solidFill>
          </c:spPr>
          <c:cat>
            <c:strRef>
              <c:f>Sheet1!$A$2:$A$4</c:f>
              <c:strCache>
                <c:ptCount val="3"/>
                <c:pt idx="0">
                  <c:v>P@1</c:v>
                </c:pt>
                <c:pt idx="1">
                  <c:v>Recall@5</c:v>
                </c:pt>
                <c:pt idx="2">
                  <c:v>MRR@10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0.68</c:v>
                </c:pt>
                <c:pt idx="1">
                  <c:v>0.72</c:v>
                </c:pt>
                <c:pt idx="2">
                  <c:v>0.77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reranker fused by RRF</c:v>
                </c:pt>
              </c:strCache>
            </c:strRef>
          </c:tx>
          <c:spPr>
            <a:solidFill>
              <a:srgbClr val="F2B705"/>
            </a:solidFill>
          </c:spPr>
          <c:cat>
            <c:strRef>
              <c:f>Sheet1!$A$2:$A$4</c:f>
              <c:strCache>
                <c:ptCount val="3"/>
                <c:pt idx="0">
                  <c:v>P@1</c:v>
                </c:pt>
                <c:pt idx="1">
                  <c:v>Recall@5</c:v>
                </c:pt>
                <c:pt idx="2">
                  <c:v>MRR@10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0.82</c:v>
                </c:pt>
                <c:pt idx="1">
                  <c:v>0.82</c:v>
                </c:pt>
                <c:pt idx="2">
                  <c:v>0.88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0B6C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b"/>
        <c:majorGridlines>
          <c:spPr>
            <a:ln>
              <a:solidFill>
                <a:srgbClr val="DDE1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F24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Calibration of hybrid, 1142 pairs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2A4D9B"/>
            </a:solidFill>
          </c:spPr>
          <c:cat>
            <c:strRef>
              <c:f>Sheet1!$A$2:$A$6</c:f>
              <c:strCache>
                <c:ptCount val="5"/>
                <c:pt idx="0">
                  <c:v>0.0-0.2</c:v>
                </c:pt>
                <c:pt idx="1">
                  <c:v>0.2-0.4</c:v>
                </c:pt>
                <c:pt idx="2">
                  <c:v>0.4-0.6</c:v>
                </c:pt>
                <c:pt idx="3">
                  <c:v>0.6-0.8</c:v>
                </c:pt>
                <c:pt idx="4">
                  <c:v>0.8-1.0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0.029</c:v>
                </c:pt>
                <c:pt idx="1">
                  <c:v>0.291</c:v>
                </c:pt>
                <c:pt idx="2">
                  <c:v>0.498</c:v>
                </c:pt>
                <c:pt idx="3">
                  <c:v>0.679</c:v>
                </c:pt>
                <c:pt idx="4">
                  <c:v>0.903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2B705"/>
            </a:solidFill>
          </c:spPr>
          <c:cat>
            <c:strRef>
              <c:f>Sheet1!$A$2:$A$6</c:f>
              <c:strCache>
                <c:ptCount val="5"/>
                <c:pt idx="0">
                  <c:v>0.0-0.2</c:v>
                </c:pt>
                <c:pt idx="1">
                  <c:v>0.2-0.4</c:v>
                </c:pt>
                <c:pt idx="2">
                  <c:v>0.4-0.6</c:v>
                </c:pt>
                <c:pt idx="3">
                  <c:v>0.6-0.8</c:v>
                </c:pt>
                <c:pt idx="4">
                  <c:v>0.8-1.0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0.033</c:v>
                </c:pt>
                <c:pt idx="1">
                  <c:v>0.277</c:v>
                </c:pt>
                <c:pt idx="2">
                  <c:v>0.342</c:v>
                </c:pt>
                <c:pt idx="3">
                  <c:v>0.667</c:v>
                </c:pt>
                <c:pt idx="4">
                  <c:v>1.0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6C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DE1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F24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Both. One sentence each on who built what, then straight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Keep it to the student's question. The numbers on the right are the data that exists today, all in data/curricula.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Why two retrievers: BM25 catches exact course vocabulary, the bi-encoder catches paraphrase. Why RRF: the two score scales are incomparable, ranks are not. The cross-encoder is fused as a third opinion, never a veto.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 drives, A narrates the matches. Rehearsed offline (S7-AB2), script in docs/07-demo-script.md. If the demo fails, the screenshots taken during the rehearsal, in docs/screenshots/, are the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Why a human pass at all: an unchecked model label would make every number measure agreement with that model (Clarke and Dietz 2024). The correction rate is the evidence the pass was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The confidence intervals and the paired test are in eval/report/results.md. At 40 queries a 95 % interval is about plus or minus 0.10, so quote the paired test, which works on per-query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If asked whether the project failed because the reranker did not win: the comparison is the result, and it is measured and explained. Numbers from eval/report/ablations.md sections 1 and 1b.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Without calibration the percentage is a display value and cannot be summed; the interface refuses the ECTS total for an uncalibrated strategy. Quote the estimate with positive label 1 and 2, the gap is the partial-match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frontend/src/lib/score.ts, the calibrated and provisional flags on GET /api/v1/strategies, and GET /api/v1/evaluation. The point: the numbers are only as good as the labels, and the interface never claims more than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From eval/report/errors.md. The most common failure is answering when it should decline, which is a threshold question rather than a ranking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Details in docs/06-defence-notes-b.md: the contract, the stub and real split, why SQLite, why the models are baked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Both. A takes NLP and IR questions, B takes engineering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5-Point Star 1"/>
          <p:cNvSpPr/>
          <p:nvPr/>
        </p:nvSpPr>
        <p:spPr>
          <a:xfrm>
            <a:off x="11036807" y="3310128"/>
            <a:ext cx="237744" cy="237744"/>
          </a:xfrm>
          <a:prstGeom prst="star5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10840797" y="4041648"/>
            <a:ext cx="237744" cy="237744"/>
          </a:xfrm>
          <a:prstGeom prst="star5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10305288" y="4577157"/>
            <a:ext cx="237744" cy="237744"/>
          </a:xfrm>
          <a:prstGeom prst="star5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9573767" y="4773168"/>
            <a:ext cx="237744" cy="237744"/>
          </a:xfrm>
          <a:prstGeom prst="star5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8842248" y="4577157"/>
            <a:ext cx="237744" cy="237744"/>
          </a:xfrm>
          <a:prstGeom prst="star5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8306738" y="4041648"/>
            <a:ext cx="237744" cy="237744"/>
          </a:xfrm>
          <a:prstGeom prst="star5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8110727" y="3310128"/>
            <a:ext cx="237744" cy="237744"/>
          </a:xfrm>
          <a:prstGeom prst="star5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8306738" y="2578608"/>
            <a:ext cx="237744" cy="237744"/>
          </a:xfrm>
          <a:prstGeom prst="star5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8842247" y="2043098"/>
            <a:ext cx="237744" cy="237744"/>
          </a:xfrm>
          <a:prstGeom prst="star5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9573767" y="1847088"/>
            <a:ext cx="237744" cy="237744"/>
          </a:xfrm>
          <a:prstGeom prst="star5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10305288" y="2043098"/>
            <a:ext cx="237744" cy="237744"/>
          </a:xfrm>
          <a:prstGeom prst="star5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10840797" y="2578607"/>
            <a:ext cx="237744" cy="237744"/>
          </a:xfrm>
          <a:prstGeom prst="star5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2024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ErasmusGPT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1">
                <a:solidFill>
                  <a:srgbClr val="F2B705"/>
                </a:solidFill>
                <a:latin typeface="Cambria"/>
              </a:rPr>
              <a:t>Which courses abroad will my faculty recognise?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Luka Cubrilo - matching engine, data, evaluation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Aleksandar Horvat - service, interface, packaging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B8C2DA"/>
                </a:solidFill>
                <a:latin typeface="Calibri"/>
              </a:rPr>
              <a:t>Information Retrieval and NLP, Faculty of Sciences, University of Novi Sad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14234B"/>
                </a:solidFill>
                <a:latin typeface="Cambria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669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433"/>
                </a:solidFill>
                <a:latin typeface="Calibri"/>
              </a:rPr>
              <a:t>An outgoing Erasmus student has to find, in a foreign catalogue, the courses their home faculty will accept in place of their own.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433"/>
                </a:solidFill>
                <a:latin typeface="Calibri"/>
              </a:rPr>
              <a:t>Today: read the catalogue, guess, write to the coordinator, wait, repeat. Days per student, and the criteria are opaque.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433"/>
                </a:solidFill>
                <a:latin typeface="Calibri"/>
              </a:rPr>
              <a:t>ErasmusGPT ranks the host courses for every home course and estimates how many ECTS of the degree would carry over.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463040"/>
            <a:ext cx="4754880" cy="132588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572768"/>
            <a:ext cx="17373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2A4D9B"/>
                </a:solidFill>
                <a:latin typeface="Cambria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645920"/>
            <a:ext cx="2560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433"/>
                </a:solidFill>
                <a:latin typeface="Calibri"/>
              </a:rPr>
              <a:t>home courses, UNS PMF BSc Informatics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063240"/>
            <a:ext cx="4754880" cy="132588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3172968"/>
            <a:ext cx="17373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2A4D9B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246120"/>
            <a:ext cx="2560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433"/>
                </a:solidFill>
                <a:latin typeface="Calibri"/>
              </a:rPr>
              <a:t>host programmes: Twente x2, EPFL, KTH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663440"/>
            <a:ext cx="4754880" cy="132588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4773168"/>
            <a:ext cx="17373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2A4D9B"/>
                </a:solidFill>
                <a:latin typeface="Cambria"/>
              </a:rPr>
              <a:t>298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846320"/>
            <a:ext cx="2560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433"/>
                </a:solidFill>
                <a:latin typeface="Calibri"/>
              </a:rPr>
              <a:t>courses indexed, English descriptions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14234B"/>
                </a:solidFill>
                <a:latin typeface="Cambria"/>
              </a:rPr>
              <a:t>The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03120"/>
            <a:ext cx="1627632" cy="1737360"/>
          </a:xfrm>
          <a:prstGeom prst="roundRect">
            <a:avLst>
              <a:gd name="adj" fmla="val 12000"/>
            </a:avLst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353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Course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1353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title, description,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outcomes, topics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2103120"/>
            <a:ext cx="1627632" cy="173736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6792" y="2286000"/>
            <a:ext cx="1353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4234B"/>
                </a:solidFill>
                <a:latin typeface="Cambria"/>
              </a:rPr>
              <a:t>RRF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792" y="2834640"/>
            <a:ext cx="1353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5F677A"/>
                </a:solidFill>
                <a:latin typeface="Calibri"/>
              </a:rPr>
              <a:t>reciprocal rank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5F677A"/>
                </a:solidFill>
                <a:latin typeface="Calibri"/>
              </a:rPr>
              <a:t>fusion -&gt; top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2103120"/>
            <a:ext cx="1627632" cy="173736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0456" y="2286000"/>
            <a:ext cx="1353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4234B"/>
                </a:solidFill>
                <a:latin typeface="Cambria"/>
              </a:rPr>
              <a:t>Cross-encoder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0456" y="2834640"/>
            <a:ext cx="1353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5F677A"/>
                </a:solidFill>
                <a:latin typeface="Calibri"/>
              </a:rPr>
              <a:t>ms-marco-MiniLM-L6,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5F677A"/>
                </a:solidFill>
                <a:latin typeface="Calibri"/>
              </a:rPr>
              <a:t>fused, optional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2103120"/>
            <a:ext cx="1627632" cy="1737360"/>
          </a:xfrm>
          <a:prstGeom prst="roundRect">
            <a:avLst>
              <a:gd name="adj" fmla="val 12000"/>
            </a:avLst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286000"/>
            <a:ext cx="1353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2834640"/>
            <a:ext cx="1353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Platt scaling -&gt;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p(recognised)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32304" y="2057400"/>
            <a:ext cx="3511296" cy="822960"/>
          </a:xfrm>
          <a:prstGeom prst="roundRect">
            <a:avLst>
              <a:gd name="adj" fmla="val 12000"/>
            </a:avLst>
          </a:prstGeom>
          <a:solidFill>
            <a:srgbClr val="2A4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5184" y="2167128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BM25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2148840"/>
            <a:ext cx="195681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rank_bm25, lexical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32304" y="2971800"/>
            <a:ext cx="3511296" cy="822960"/>
          </a:xfrm>
          <a:prstGeom prst="roundRect">
            <a:avLst>
              <a:gd name="adj" fmla="val 12000"/>
            </a:avLst>
          </a:prstGeom>
          <a:solidFill>
            <a:srgbClr val="2A4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3081528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Bi-encoder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3063240"/>
            <a:ext cx="195681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bge-small-en-v1.5, cosine similarity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94560" y="2788920"/>
            <a:ext cx="219456" cy="365760"/>
          </a:xfrm>
          <a:prstGeom prst="rightArrow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961888" y="2788920"/>
            <a:ext cx="219456" cy="365760"/>
          </a:xfrm>
          <a:prstGeom prst="rightArrow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845552" y="2788920"/>
            <a:ext cx="219456" cy="365760"/>
          </a:xfrm>
          <a:prstGeom prst="rightArrow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9729216" y="2788920"/>
            <a:ext cx="219456" cy="365760"/>
          </a:xfrm>
          <a:prstGeom prst="rightArrow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F2433"/>
                </a:solidFill>
                <a:latin typeface="Calibri"/>
              </a:rPr>
              <a:t>One code path: the web service and the evaluation harness import the same app.matching module, so the numbers describe the system being demonstrated.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F2433"/>
                </a:solidFill>
                <a:latin typeface="Calibri"/>
              </a:rPr>
              <a:t>Default strategy is hybrid (ADR-0005): level with hybrid+ce on quality, about 400 times cheaper per query.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Live demo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4B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55448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docker compose up, network cable out: the models are baked into the image.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4B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46888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Home UNS PMF Informatics, host Twente TCS, strategy hybrid: 50 courses in about 0.1 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4B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38328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Open Computer networks: the evidence sentence pair explains the match.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4B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29768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Recognition panel: expected ECTS carried over, with likely and borderline bands.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166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4B"/>
                </a:solidFill>
                <a:latin typeface="Cambria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521208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Compare one row against hybrid+ce, then open the evaluation page behind the choice.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14234B"/>
                </a:solidFill>
                <a:latin typeface="Cambria"/>
              </a:rPr>
              <a:t>How we know it works: the gold set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9047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745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Top 10 of dense and hybrid+ce for 40 home courses: 562 pairs per host.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06039"/>
            <a:ext cx="502920" cy="502920"/>
          </a:xfrm>
          <a:prstGeom prst="ellipse">
            <a:avLst/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87751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Pre-label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71799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A model proposes 0, 1 or 2 per pair from the two course texts, never seeing our scores.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85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06908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680 rows checked by a person; 462 labelled by a second model (Claude) for lack of time, and reported as such.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78231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Cold slice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6636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30 pairs labelled independently by the second person, for Cohen's kappa.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508760"/>
            <a:ext cx="4663440" cy="11887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6459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F677A"/>
                </a:solidFill>
                <a:latin typeface="Calibri"/>
              </a:rPr>
              <a:t>Correction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01168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2A4D9B"/>
                </a:solidFill>
                <a:latin typeface="Cambria"/>
              </a:rPr>
              <a:t>1.6% of 680 human rows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2971800"/>
            <a:ext cx="4663440" cy="11887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1089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F677A"/>
                </a:solidFill>
                <a:latin typeface="Calibri"/>
              </a:rPr>
              <a:t>Agreement (kappa)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47472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2A4D9B"/>
                </a:solidFill>
                <a:latin typeface="Cambria"/>
              </a:rPr>
              <a:t>pending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434840"/>
            <a:ext cx="4663440" cy="11887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4572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F677A"/>
                </a:solidFill>
                <a:latin typeface="Calibri"/>
              </a:rPr>
              <a:t>Rubric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93776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2A4D9B"/>
                </a:solidFill>
                <a:latin typeface="Cambria"/>
              </a:rPr>
              <a:t>would a coordinator sign it off?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14234B"/>
                </a:solidFill>
                <a:latin typeface="Cambria"/>
              </a:rPr>
              <a:t>Results against Twente TCS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21040" y="14630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F677A"/>
                </a:solidFill>
                <a:latin typeface="Calibri"/>
              </a:rPr>
              <a:t>Cost per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874519"/>
            <a:ext cx="3383280" cy="105156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984247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2A4D9B"/>
                </a:solidFill>
                <a:latin typeface="Cambria"/>
              </a:rPr>
              <a:t>3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1984247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hybrid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108960"/>
            <a:ext cx="3383280" cy="105156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3218688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2A4D9B"/>
                </a:solidFill>
                <a:latin typeface="Cambria"/>
              </a:rPr>
              <a:t>868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3218688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hybrid+ce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526280"/>
            <a:ext cx="3383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1F2433"/>
                </a:solidFill>
                <a:latin typeface="Calibri"/>
              </a:rPr>
              <a:t>Same quality, several hundred times the latency: hybrid is served, hybrid+ce stays selectable.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14234B"/>
                </a:solidFill>
                <a:latin typeface="Cambria"/>
              </a:rPr>
              <a:t>The reranker: veto or opinion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67665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80960" y="1554480"/>
            <a:ext cx="4023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433"/>
                </a:solidFill>
                <a:latin typeface="Calibri"/>
              </a:rPr>
              <a:t>The proposal expected the cross-encoder to win. Letting it replace the retrieval order made every metric worse.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433"/>
                </a:solidFill>
                <a:latin typeface="Calibri"/>
              </a:rPr>
              <a:t>It was trained on short web queries against passages. Here both sides are long course descriptions.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433"/>
                </a:solidFill>
                <a:latin typeface="Calibri"/>
              </a:rPr>
              <a:t>Fused as a third ranking beside BM25 and dense, it recovers to level with hybrid. One opinion among three, never a veto.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14234B"/>
                </a:solidFill>
                <a:latin typeface="Cambria"/>
              </a:rPr>
              <a:t>From a score to recognised ECTS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64040" y="457200"/>
            <a:ext cx="2194560" cy="384048"/>
          </a:xfrm>
          <a:prstGeom prst="roundRect">
            <a:avLst>
              <a:gd name="adj" fmla="val 12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4234B"/>
                </a:solidFill>
                <a:latin typeface="Calibri"/>
              </a:rPr>
              <a:t>PROVISIONAL LABELS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60350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49440" y="1463040"/>
            <a:ext cx="4663440" cy="1371600"/>
          </a:xfrm>
          <a:prstGeom prst="roundRect">
            <a:avLst>
              <a:gd name="adj" fmla="val 12000"/>
            </a:avLst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600200"/>
            <a:ext cx="4206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FFFFFF"/>
                </a:solidFill>
                <a:latin typeface="Cambria"/>
              </a:rPr>
              <a:t>expected ECTS =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FFFFFF"/>
                </a:solidFill>
                <a:latin typeface="Cambria"/>
              </a:rPr>
              <a:t>sum of p(best match) x ECTS(home course)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310896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433"/>
                </a:solidFill>
                <a:latin typeface="Calibri"/>
              </a:rPr>
              <a:t>Platt scaling on the fused rank score and the embedding cosine gives the probability that a human labelled the pair a match. Rank alone cannot tell a good top hit from the best of a bad lot; the cosine can.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433"/>
                </a:solidFill>
                <a:latin typeface="Calibri"/>
              </a:rPr>
              <a:t>Only the best candidate per home course counts, partial matches count as matches, and an ECTS shortfall is shown rather than hidden.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14234B"/>
                </a:solidFill>
                <a:latin typeface="Cambria"/>
              </a:rPr>
              <a:t>An interface that does not overstate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6479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Two kinds of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28600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A calibrated strategy shows a percentage and a likely, borderline or unlikely band. The others show a bare relative number and a tooltip saying it is not a probability. One file formats every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94960" cy="21031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6479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No sum without a 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28600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The recognition panel will not add up ECTS for a strategy without a fitted calibration. Summing display values would be arithmetic on the wrong 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394960" cy="21031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4223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Provisional says 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66344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While a calibration rests on machine labels, every probability and the ECTS estimate carry a warning. The flag is read from the calibration file, not typed into the interface.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394960" cy="21031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4114800"/>
            <a:ext cx="502920" cy="502920"/>
          </a:xfrm>
          <a:prstGeom prst="ellipse">
            <a:avLst/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14223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The evaluation page 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66344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It shows how many of the 1142 gold pairs a human has checked (1142 today) and stays provisional until every one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14234B"/>
                </a:solidFill>
                <a:latin typeface="Cambria"/>
              </a:rPr>
              <a:t>Where it goes wrong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6479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No equivalent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28600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Algebra against a computer science catalogue still returns five candidates. Ranking cannot say none of these; a confidence floor can.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94960" cy="21031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6479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Granularity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28600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The right answer is half of a 15 ECTS module, and the whole module description dilutes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394960" cy="21031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4223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Look-alike projects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66344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Project courses read alike across a catalogue, so the text cannot separate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394960" cy="21031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4114800"/>
            <a:ext cx="502920" cy="502920"/>
          </a:xfrm>
          <a:prstGeom prst="ellipse">
            <a:avLst/>
          </a:prstGeom>
          <a:solidFill>
            <a:srgbClr val="14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14223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Level in the 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66344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433"/>
                </a:solidFill>
                <a:latin typeface="Calibri"/>
              </a:rPr>
              <a:t>Modelling and Programming 3 outranks 1: the sequence number is kept out of the embedding by design (ADR-0004).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14234B"/>
                </a:solidFill>
                <a:latin typeface="Cambria"/>
              </a:rPr>
              <a:t>Engineering choices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Frozen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554480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433"/>
                </a:solidFill>
                <a:latin typeface="Calibri"/>
              </a:rPr>
              <a:t>A Matcher protocol and a stub let the interface and the engine be built in parallel from day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Offline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43200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433"/>
                </a:solidFill>
                <a:latin typeface="Calibri"/>
              </a:rPr>
              <a:t>Models baked into the image at build time; the runtime never touches the network.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931920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433"/>
                </a:solidFill>
                <a:latin typeface="Calibri"/>
              </a:rPr>
              <a:t>A few hundred courses: one file in a volume keeps compose to two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4234B"/>
                </a:solidFill>
                <a:latin typeface="Cambria"/>
              </a:rPr>
              <a:t>Clean-machine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120640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F2433"/>
                </a:solidFill>
                <a:latin typeface="Calibri"/>
              </a:rPr>
              <a:t>Fresh clone to running app measured at 297 s, recorded in the README.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Limits, stated before being asked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4B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58191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Pooled judgements favour the strategies that built the pool.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4B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45059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Labels come from students, not from the office that signs learning agreements.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291839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4B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319271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462 of 1142 gold labels come from a second model, not a human check.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4B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18795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English only: a multilingual model alone would break the image budget.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0292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4B"/>
                </a:solidFill>
                <a:latin typeface="Cambria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50566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Master's catalogues sit a level above a bachelor's programme.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2B705"/>
                </a:solidFill>
                <a:latin typeface="Cambria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