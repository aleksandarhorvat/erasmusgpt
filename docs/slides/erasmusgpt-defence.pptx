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P@1</c:v>
                </c:pt>
              </c:strCache>
            </c:strRef>
          </c:tx>
          <c:spPr>
            <a:solidFill>
              <a:srgbClr val="14234B"/>
            </a:solidFill>
          </c:spPr>
          <c:cat>
            <c:strRef>
              <c:f>Sheet1!$A$2:$A$5</c:f>
              <c:strCache>
                <c:ptCount val="4"/>
                <c:pt idx="0">
                  <c:v>bm25</c:v>
                </c:pt>
                <c:pt idx="1">
                  <c:v>dense-bge</c:v>
                </c:pt>
                <c:pt idx="2">
                  <c:v>hybrid</c:v>
                </c:pt>
                <c:pt idx="3">
                  <c:v>hybrid+ce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0.86</c:v>
                </c:pt>
                <c:pt idx="1">
                  <c:v>0.75</c:v>
                </c:pt>
                <c:pt idx="2">
                  <c:v>0.86</c:v>
                </c:pt>
                <c:pt idx="3">
                  <c:v>0.82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Recall@5</c:v>
                </c:pt>
              </c:strCache>
            </c:strRef>
          </c:tx>
          <c:spPr>
            <a:solidFill>
              <a:srgbClr val="2A4D9B"/>
            </a:solidFill>
          </c:spPr>
          <c:cat>
            <c:strRef>
              <c:f>Sheet1!$A$2:$A$5</c:f>
              <c:strCache>
                <c:ptCount val="4"/>
                <c:pt idx="0">
                  <c:v>bm25</c:v>
                </c:pt>
                <c:pt idx="1">
                  <c:v>dense-bge</c:v>
                </c:pt>
                <c:pt idx="2">
                  <c:v>hybrid</c:v>
                </c:pt>
                <c:pt idx="3">
                  <c:v>hybrid+ce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0.75</c:v>
                </c:pt>
                <c:pt idx="1">
                  <c:v>0.77</c:v>
                </c:pt>
                <c:pt idx="2">
                  <c:v>0.8</c:v>
                </c:pt>
                <c:pt idx="3">
                  <c:v>0.82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MRR@10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Sheet1!$A$2:$A$5</c:f>
              <c:strCache>
                <c:ptCount val="4"/>
                <c:pt idx="0">
                  <c:v>bm25</c:v>
                </c:pt>
                <c:pt idx="1">
                  <c:v>dense-bge</c:v>
                </c:pt>
                <c:pt idx="2">
                  <c:v>hybrid</c:v>
                </c:pt>
                <c:pt idx="3">
                  <c:v>hybrid+ce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0.91</c:v>
                </c:pt>
                <c:pt idx="1">
                  <c:v>0.81</c:v>
                </c:pt>
                <c:pt idx="2">
                  <c:v>0.9</c:v>
                </c:pt>
                <c:pt idx="3">
                  <c:v>0.88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E1EA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hybrid, no reranker</c:v>
                </c:pt>
              </c:strCache>
            </c:strRef>
          </c:tx>
          <c:spPr>
            <a:solidFill>
              <a:srgbClr val="14234B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0.86</c:v>
                </c:pt>
                <c:pt idx="1">
                  <c:v>0.8</c:v>
                </c:pt>
                <c:pt idx="2">
                  <c:v>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reranker replaces the order</c:v>
                </c:pt>
              </c:strCache>
            </c:strRef>
          </c:tx>
          <c:spPr>
            <a:solidFill>
              <a:srgbClr val="B53A2E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0.68</c:v>
                </c:pt>
                <c:pt idx="1">
                  <c:v>0.72</c:v>
                </c:pt>
                <c:pt idx="2">
                  <c:v>0.77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reranker fused by RRF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0.82</c:v>
                </c:pt>
                <c:pt idx="1">
                  <c:v>0.82</c:v>
                </c:pt>
                <c:pt idx="2">
                  <c:v>0.88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5"/>
        </c:scaling>
        <c:delete val="0"/>
        <c:axPos val="b"/>
        <c:majorGridlines>
          <c:spPr>
            <a:ln>
              <a:solidFill>
                <a:srgbClr val="DDE1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Calibration of hybrid, 562 pairs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</c:v>
                </c:pt>
              </c:strCache>
            </c:strRef>
          </c:tx>
          <c:spPr>
            <a:solidFill>
              <a:srgbClr val="2A4D9B"/>
            </a:solidFill>
          </c:spPr>
          <c:cat>
            <c:strRef>
              <c:f>Sheet1!$A$2:$A$5</c:f>
              <c:strCache>
                <c:ptCount val="4"/>
                <c:pt idx="0">
                  <c:v>0.0-0.2</c:v>
                </c:pt>
                <c:pt idx="1">
                  <c:v>0.2-0.4</c:v>
                </c:pt>
                <c:pt idx="2">
                  <c:v>0.4-0.6</c:v>
                </c:pt>
                <c:pt idx="3">
                  <c:v>0.6-0.8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0.047</c:v>
                </c:pt>
                <c:pt idx="1">
                  <c:v>0.301</c:v>
                </c:pt>
                <c:pt idx="2">
                  <c:v>0.509</c:v>
                </c:pt>
                <c:pt idx="3">
                  <c:v>0.674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Sheet1!$A$2:$A$5</c:f>
              <c:strCache>
                <c:ptCount val="4"/>
                <c:pt idx="0">
                  <c:v>0.0-0.2</c:v>
                </c:pt>
                <c:pt idx="1">
                  <c:v>0.2-0.4</c:v>
                </c:pt>
                <c:pt idx="2">
                  <c:v>0.4-0.6</c:v>
                </c:pt>
                <c:pt idx="3">
                  <c:v>0.6-0.8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0.048</c:v>
                </c:pt>
                <c:pt idx="1">
                  <c:v>0.277</c:v>
                </c:pt>
                <c:pt idx="2">
                  <c:v>0.48</c:v>
                </c:pt>
                <c:pt idx="3">
                  <c:v>0.778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E1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Both. One sentence each on who built what, then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Keep it to the student's question. The numbers on the right are the data that exists today, all in data/curricula.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Why two retrievers: BM25 catches exact course vocabulary, the bi-encoder catches paraphrase. Why RRF: the two score scales are incomparable, ranks are not. The cross-encoder is fused as a third opinion, never a veto.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 drives, A narrates the matches. Rehearsed offline (S7-AB2). If the demo fails, the README screenshots are the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Why a human pass at all: an unchecked model label would make every number measure agreement with that model (Clarke and Dietz 2024). The correction rate is the evidence the pass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The confidence intervals and the paired test are in eval/report/results.md. At 40 queries a 95 % interval is about plus or minus 0.10, so quote the paired test, which works on per-query differences.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If asked whether the project failed because the reranker did not win: the comparison is the result, and it is measured and explained. Numbers from eval/report/ablations.md sections 1 and 1b.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Without calibration the percentage is a display value and cannot be summed; the interface refuses the ECTS total for an uncalibrated strategy. Quote the estimate with positive label 1 and 2, the gap is the partial-match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From eval/report/errors.md. The most common failure is answering when it should decline, which is a threshold question rather than a ranking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B. Details in docs/06-defence-notes-b.md: the contract, the stub and real split, why SQLite, why the models are baked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Both. A takes NLP and IR questions, B takes engineering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5-Point Star 1"/>
          <p:cNvSpPr/>
          <p:nvPr/>
        </p:nvSpPr>
        <p:spPr>
          <a:xfrm>
            <a:off x="11036807" y="331012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5-Point Star 2"/>
          <p:cNvSpPr/>
          <p:nvPr/>
        </p:nvSpPr>
        <p:spPr>
          <a:xfrm>
            <a:off x="10840797" y="404164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5-Point Star 3"/>
          <p:cNvSpPr/>
          <p:nvPr/>
        </p:nvSpPr>
        <p:spPr>
          <a:xfrm>
            <a:off x="10305288" y="457715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573767" y="477316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5-Point Star 5"/>
          <p:cNvSpPr/>
          <p:nvPr/>
        </p:nvSpPr>
        <p:spPr>
          <a:xfrm>
            <a:off x="8842248" y="457715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8306738" y="404164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8110727" y="331012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>
            <a:off x="8306738" y="257860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5-Point Star 9"/>
          <p:cNvSpPr/>
          <p:nvPr/>
        </p:nvSpPr>
        <p:spPr>
          <a:xfrm>
            <a:off x="8842247" y="204309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>
            <a:off x="9573767" y="184708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>
            <a:off x="10305288" y="204309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>
            <a:off x="10840797" y="257860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92024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 i="0">
                <a:solidFill>
                  <a:srgbClr val="FFFFFF"/>
                </a:solidFill>
                <a:latin typeface="Cambria"/>
              </a:rPr>
              <a:t>ErasmusGPT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1752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 i="1">
                <a:solidFill>
                  <a:srgbClr val="F2B705"/>
                </a:solidFill>
                <a:latin typeface="Cambria"/>
              </a:rPr>
              <a:t>Which courses abroad will my faculty recognise?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7498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Luka Cubrilo - matching engine, data, evaluation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Aleksandar Horvat - service, interface, packaging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B8C2DA"/>
                </a:solidFill>
                <a:latin typeface="Calibri"/>
              </a:rPr>
              <a:t>Information Retrieval and NLP, Faculty of Sciences, University of Novi Sad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6692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An outgoing Erasmus student has to find, in a foreign catalogue, the courses their home faculty will accept in place of their own.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Today: read the catalogue, guess, write to the coordinator, wait, repeat. Days per student, and the criteria are opaque.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ErasmusGPT ranks the host courses for every home course and estimates how many ECTS of the degree would carry over.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4630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5727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16459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home courses, UNS PMF BSc Informatics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30632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31729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32461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host programmes: Twente x2, EPFL, KTH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46634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47731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298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48463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courses indexed, English descriptions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Course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title, description,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outcomes, topics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6792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4234B"/>
                </a:solidFill>
                <a:latin typeface="Cambria"/>
              </a:rPr>
              <a:t>RRF 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792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reciprocal rank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fusion -&gt; top 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3296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0456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4234B"/>
                </a:solidFill>
                <a:latin typeface="Cambria"/>
              </a:rPr>
              <a:t>Cross-encoder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0456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ms-marco-MiniLM-L6,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fused, optional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Calibration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4120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Platt scaling -&gt;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p(recognised)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32304" y="2057400"/>
            <a:ext cx="3511296" cy="822960"/>
          </a:xfrm>
          <a:prstGeom prst="roundRect">
            <a:avLst>
              <a:gd name="adj" fmla="val 12000"/>
            </a:avLst>
          </a:prstGeom>
          <a:solidFill>
            <a:srgbClr val="2A4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15184" y="2167128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BM25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148840"/>
            <a:ext cx="195681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rank_bm25, lexical baseline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32304" y="2971800"/>
            <a:ext cx="3511296" cy="822960"/>
          </a:xfrm>
          <a:prstGeom prst="roundRect">
            <a:avLst>
              <a:gd name="adj" fmla="val 12000"/>
            </a:avLst>
          </a:prstGeom>
          <a:solidFill>
            <a:srgbClr val="2A4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15184" y="3081528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Bi-encoder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5344" y="3063240"/>
            <a:ext cx="195681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bge-small-en-v1.5, cosine similarity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194560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5961888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7845552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9729216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29768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433"/>
                </a:solidFill>
                <a:latin typeface="Calibri"/>
              </a:rPr>
              <a:t>One code path: the web service and the evaluation harness import the same app.matching module, so the numbers describe the system being demonstrated.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433"/>
                </a:solidFill>
                <a:latin typeface="Calibri"/>
              </a:rPr>
              <a:t>Default strategy is hybrid (ADR-0005): level with hybrid+ce on quality, about 400 times cheaper per query.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Live demo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5544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docker compose up, network cable out: the models are baked into the image.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4231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4688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Home UNS PMF Informatics, host Twente TCS, strategy hybrid: 50 courses in about 0.1 s.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3375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3832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Open Computer networks: the evidence sentence pair explains the match.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251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2976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Recognition panel: expected ECTS carried over, with likely and borderline bands.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5166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52120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Switch to hybrid+ce, then open the evaluation page: the table behind the choice.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How we know it works: the gold set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904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7452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Top 10 of dense and hybrid+ce for 40 home courses: 562 pairs per host.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06039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8775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Pre-label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71799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 model proposes 0, 1 or 2 per pair from the two course texts, never seeing our scores.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6850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06908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 human reads every row and corrects it. Only checked rows count.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78231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Cold slice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6636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30 pairs labelled independently by the second person, for Cohen's kappa.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150876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16459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Correction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01168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pending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297180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31089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Agreement (kappa)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347472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pending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443484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45720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Rubric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93776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would a coordinator sign it off?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Results against Twente TCS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7498079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321040" y="14630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Cost per query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874519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984247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2A4D9B"/>
                </a:solidFill>
                <a:latin typeface="Cambria"/>
              </a:rPr>
              <a:t>2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1984247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hybrid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1089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3218688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2A4D9B"/>
                </a:solidFill>
                <a:latin typeface="Cambria"/>
              </a:rPr>
              <a:t>910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3218688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hybrid+ce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4526280"/>
            <a:ext cx="3383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1F2433"/>
                </a:solidFill>
                <a:latin typeface="Calibri"/>
              </a:rPr>
              <a:t>Same quality, several hundred times the latency: hybrid is served, hybrid+ce stays selectable.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reranker: veto or opinion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67665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554480"/>
            <a:ext cx="40233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The proposal expected the cross-encoder to win. Letting it replace the retrieval order made every metric worse.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It was trained on short web queries against passages. Here both sides are long course descriptions.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Fused as a third ranking beside BM25 and dense, it recovers to level with hybrid. One opinion among three, never a veto.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From a score to recognised ECTS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60350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949440" y="1463040"/>
            <a:ext cx="4663440" cy="137160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0" y="1600200"/>
            <a:ext cx="42062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ambria"/>
              </a:rPr>
              <a:t>expected ECTS =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ambria"/>
              </a:rPr>
              <a:t>sum of p(best match) x ECTS(home course)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3108960"/>
            <a:ext cx="4663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Platt scaling turns a fused rank score into the probability that a human labelled the pair a match. Bars that agree mean 70 % really is 70 %.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Only the best candidate per home course counts, partial matches count as matches, and an ECTS shortfall is shown rather than hidden.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Where it goes wrong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No equivalent 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Algebra against a computer science catalogue still returns five candidates. Ranking cannot say none of these; a confidence floor can.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Granularity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The right answer is half of a 15 ECTS module, and the whole module description dilutes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Look-alike projects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Project courses read alike across a catalogue, so the text cannot separate them.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Level in the title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Modelling and Programming 3 outranks 1: the sequence number is kept out of the embedding by design (ADR-0004).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Engineering choices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55448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A Matcher protocol and a stub let the interface and the engine be built in parallel from day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Offline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4320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Models baked into the image at build time; the runtime never touches the network.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SQLite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93192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A few hundred courses: one file in a volume keeps compose to two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2920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2064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Clean-machine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512064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Fresh clone to running app measured at 297 s, recorded in the README.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Limits, stated before being asked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554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58191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Pooled judgements favour the strategies that built the pool.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4231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45059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Labels come from students, not from the office that signs learning agreements.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291839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319271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One person checked every row; kappa covers a 30-pair slice.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16052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18795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English only: a multilingual model alone would break the image budget.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50292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505663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Master's catalogues sit a level above a bachelor's programme.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2B705"/>
                </a:solidFill>
                <a:latin typeface="Cambria"/>
              </a:rPr>
              <a:t>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